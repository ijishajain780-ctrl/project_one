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5BE05-7E6B-4D56-AA24-734C7ED8C1CA}"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F48970-F7C9-48B7-808D-11F9B233B019}" type="slidenum">
              <a:rPr lang="en-IN" smtClean="0"/>
              <a:t>‹#›</a:t>
            </a:fld>
            <a:endParaRPr lang="en-IN"/>
          </a:p>
        </p:txBody>
      </p:sp>
    </p:spTree>
    <p:extLst>
      <p:ext uri="{BB962C8B-B14F-4D97-AF65-F5344CB8AC3E}">
        <p14:creationId xmlns:p14="http://schemas.microsoft.com/office/powerpoint/2010/main" val="678300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F48970-F7C9-48B7-808D-11F9B233B019}" type="slidenum">
              <a:rPr lang="en-IN" smtClean="0"/>
              <a:t>2</a:t>
            </a:fld>
            <a:endParaRPr lang="en-IN"/>
          </a:p>
        </p:txBody>
      </p:sp>
    </p:spTree>
    <p:extLst>
      <p:ext uri="{BB962C8B-B14F-4D97-AF65-F5344CB8AC3E}">
        <p14:creationId xmlns:p14="http://schemas.microsoft.com/office/powerpoint/2010/main" val="2204099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66760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3749668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1765794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C150A5-1BDB-4A38-8109-DE06E90F6C93}"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1235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C150A5-1BDB-4A38-8109-DE06E90F6C93}" type="datetimeFigureOut">
              <a:rPr lang="en-IN" smtClean="0"/>
              <a:t>25-05-2026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195774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C150A5-1BDB-4A38-8109-DE06E90F6C93}"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4177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C150A5-1BDB-4A38-8109-DE06E90F6C93}" type="datetimeFigureOut">
              <a:rPr lang="en-IN" smtClean="0"/>
              <a:t>25-05-2026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1691505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C150A5-1BDB-4A38-8109-DE06E90F6C93}"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3989517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C150A5-1BDB-4A38-8109-DE06E90F6C93}"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366251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87885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11610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3355705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88753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28646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75702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C150A5-1BDB-4A38-8109-DE06E90F6C93}"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40205-2B63-42EE-9118-9E998D3A20FA}" type="slidenum">
              <a:rPr lang="en-IN" smtClean="0"/>
              <a:t>‹#›</a:t>
            </a:fld>
            <a:endParaRPr lang="en-IN"/>
          </a:p>
        </p:txBody>
      </p:sp>
    </p:spTree>
    <p:extLst>
      <p:ext uri="{BB962C8B-B14F-4D97-AF65-F5344CB8AC3E}">
        <p14:creationId xmlns:p14="http://schemas.microsoft.com/office/powerpoint/2010/main" val="292022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C150A5-1BDB-4A38-8109-DE06E90F6C93}" type="datetimeFigureOut">
              <a:rPr lang="en-IN" smtClean="0"/>
              <a:t>25-05-2026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2A40205-2B63-42EE-9118-9E998D3A20FA}" type="slidenum">
              <a:rPr lang="en-IN" smtClean="0"/>
              <a:t>‹#›</a:t>
            </a:fld>
            <a:endParaRPr lang="en-IN"/>
          </a:p>
        </p:txBody>
      </p:sp>
    </p:spTree>
    <p:extLst>
      <p:ext uri="{BB962C8B-B14F-4D97-AF65-F5344CB8AC3E}">
        <p14:creationId xmlns:p14="http://schemas.microsoft.com/office/powerpoint/2010/main" val="25303860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DD70-ACA8-9AE6-616C-B269A7AD4CCB}"/>
              </a:ext>
            </a:extLst>
          </p:cNvPr>
          <p:cNvSpPr>
            <a:spLocks noGrp="1"/>
          </p:cNvSpPr>
          <p:nvPr>
            <p:ph type="ctrTitle"/>
          </p:nvPr>
        </p:nvSpPr>
        <p:spPr>
          <a:xfrm>
            <a:off x="1703712" y="1984016"/>
            <a:ext cx="8020391" cy="1646302"/>
          </a:xfrm>
          <a:solidFill>
            <a:schemeClr val="accent2">
              <a:lumMod val="20000"/>
              <a:lumOff val="80000"/>
            </a:schemeClr>
          </a:solidFill>
        </p:spPr>
        <p:style>
          <a:lnRef idx="0">
            <a:schemeClr val="accent4"/>
          </a:lnRef>
          <a:fillRef idx="3">
            <a:schemeClr val="accent4"/>
          </a:fillRef>
          <a:effectRef idx="3">
            <a:schemeClr val="accent4"/>
          </a:effectRef>
          <a:fontRef idx="minor">
            <a:schemeClr val="lt1"/>
          </a:fontRef>
        </p:style>
        <p:txBody>
          <a:bodyPr/>
          <a:lstStyle/>
          <a:p>
            <a:pPr algn="ctr"/>
            <a:r>
              <a:rPr lang="en-US" dirty="0">
                <a:solidFill>
                  <a:schemeClr val="accent4">
                    <a:lumMod val="75000"/>
                  </a:schemeClr>
                </a:solidFill>
              </a:rPr>
              <a:t>Bike</a:t>
            </a:r>
            <a:r>
              <a:rPr lang="en-US" dirty="0">
                <a:solidFill>
                  <a:srgbClr val="FF0000"/>
                </a:solidFill>
              </a:rPr>
              <a:t> </a:t>
            </a:r>
            <a:r>
              <a:rPr lang="en-US" dirty="0">
                <a:solidFill>
                  <a:schemeClr val="accent4">
                    <a:lumMod val="75000"/>
                  </a:schemeClr>
                </a:solidFill>
              </a:rPr>
              <a:t>Rental</a:t>
            </a:r>
            <a:r>
              <a:rPr lang="en-US" dirty="0">
                <a:solidFill>
                  <a:srgbClr val="FF0000"/>
                </a:solidFill>
              </a:rPr>
              <a:t> </a:t>
            </a:r>
            <a:r>
              <a:rPr lang="en-US" dirty="0">
                <a:solidFill>
                  <a:schemeClr val="accent4">
                    <a:lumMod val="75000"/>
                  </a:schemeClr>
                </a:solidFill>
              </a:rPr>
              <a:t>Demand</a:t>
            </a:r>
            <a:r>
              <a:rPr lang="en-US" dirty="0">
                <a:solidFill>
                  <a:srgbClr val="FF0000"/>
                </a:solidFill>
              </a:rPr>
              <a:t> </a:t>
            </a:r>
            <a:r>
              <a:rPr lang="en-US" dirty="0">
                <a:solidFill>
                  <a:schemeClr val="accent4">
                    <a:lumMod val="75000"/>
                  </a:schemeClr>
                </a:solidFill>
              </a:rPr>
              <a:t>Analysis</a:t>
            </a:r>
            <a:r>
              <a:rPr lang="en-US" dirty="0">
                <a:solidFill>
                  <a:srgbClr val="FF0000"/>
                </a:solidFill>
              </a:rPr>
              <a:t> </a:t>
            </a:r>
            <a:endParaRPr lang="en-IN" dirty="0">
              <a:solidFill>
                <a:srgbClr val="FF0000"/>
              </a:solidFill>
            </a:endParaRPr>
          </a:p>
        </p:txBody>
      </p:sp>
      <p:sp>
        <p:nvSpPr>
          <p:cNvPr id="3" name="Subtitle 2">
            <a:extLst>
              <a:ext uri="{FF2B5EF4-FFF2-40B4-BE49-F238E27FC236}">
                <a16:creationId xmlns:a16="http://schemas.microsoft.com/office/drawing/2014/main" id="{AA356A6B-3DC8-D66F-7376-25FAA1B15C89}"/>
              </a:ext>
            </a:extLst>
          </p:cNvPr>
          <p:cNvSpPr>
            <a:spLocks noGrp="1"/>
          </p:cNvSpPr>
          <p:nvPr>
            <p:ph type="subTitle" idx="1"/>
          </p:nvPr>
        </p:nvSpPr>
        <p:spPr/>
        <p:txBody>
          <a:bodyPr/>
          <a:lstStyle/>
          <a:p>
            <a:pPr algn="l"/>
            <a:r>
              <a:rPr lang="en-US" dirty="0">
                <a:solidFill>
                  <a:schemeClr val="accent6">
                    <a:lumMod val="75000"/>
                  </a:schemeClr>
                </a:solidFill>
              </a:rPr>
              <a:t>Isha Bardia</a:t>
            </a:r>
          </a:p>
          <a:p>
            <a:pPr algn="l"/>
            <a:r>
              <a:rPr lang="en-IN" dirty="0" err="1">
                <a:solidFill>
                  <a:schemeClr val="accent5">
                    <a:lumMod val="60000"/>
                    <a:lumOff val="40000"/>
                  </a:schemeClr>
                </a:solidFill>
              </a:rPr>
              <a:t>NextHikes</a:t>
            </a:r>
            <a:r>
              <a:rPr lang="en-IN" dirty="0"/>
              <a:t> </a:t>
            </a:r>
            <a:r>
              <a:rPr lang="en-IN" dirty="0">
                <a:solidFill>
                  <a:schemeClr val="accent5">
                    <a:lumMod val="60000"/>
                    <a:lumOff val="40000"/>
                  </a:schemeClr>
                </a:solidFill>
              </a:rPr>
              <a:t>IT</a:t>
            </a:r>
            <a:r>
              <a:rPr lang="en-IN" dirty="0"/>
              <a:t> </a:t>
            </a:r>
            <a:r>
              <a:rPr lang="en-IN" dirty="0">
                <a:solidFill>
                  <a:schemeClr val="accent5">
                    <a:lumMod val="60000"/>
                    <a:lumOff val="40000"/>
                  </a:schemeClr>
                </a:solidFill>
              </a:rPr>
              <a:t>Solutions</a:t>
            </a:r>
          </a:p>
        </p:txBody>
      </p:sp>
    </p:spTree>
    <p:extLst>
      <p:ext uri="{BB962C8B-B14F-4D97-AF65-F5344CB8AC3E}">
        <p14:creationId xmlns:p14="http://schemas.microsoft.com/office/powerpoint/2010/main" val="1993273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68136-D07C-C070-D581-775885CDBF10}"/>
              </a:ext>
            </a:extLst>
          </p:cNvPr>
          <p:cNvSpPr>
            <a:spLocks noGrp="1"/>
          </p:cNvSpPr>
          <p:nvPr>
            <p:ph type="title"/>
          </p:nvPr>
        </p:nvSpPr>
        <p:spPr/>
        <p:txBody>
          <a:bodyPr/>
          <a:lstStyle/>
          <a:p>
            <a:r>
              <a:rPr lang="en-US" dirty="0"/>
              <a:t>Project Overview</a:t>
            </a:r>
            <a:endParaRPr lang="en-IN" dirty="0"/>
          </a:p>
        </p:txBody>
      </p:sp>
      <p:sp>
        <p:nvSpPr>
          <p:cNvPr id="3" name="Content Placeholder 2">
            <a:extLst>
              <a:ext uri="{FF2B5EF4-FFF2-40B4-BE49-F238E27FC236}">
                <a16:creationId xmlns:a16="http://schemas.microsoft.com/office/drawing/2014/main" id="{12C11772-A909-AD65-1101-392E5073F169}"/>
              </a:ext>
            </a:extLst>
          </p:cNvPr>
          <p:cNvSpPr>
            <a:spLocks noGrp="1"/>
          </p:cNvSpPr>
          <p:nvPr>
            <p:ph idx="1"/>
          </p:nvPr>
        </p:nvSpPr>
        <p:spPr/>
        <p:txBody>
          <a:bodyPr/>
          <a:lstStyle/>
          <a:p>
            <a:r>
              <a:rPr lang="en-US" dirty="0"/>
              <a:t>Analyzing bike rental data helps understand how weather, time, and holidays affect bike rentals. Data on bike rentals, weather, and user types is collected hourly and daily. Three different datasets are given in this project. This project uses excel to clean, preprocess and join data. This helps visualize trends, create new features and how time and weather will affect the rental and so on.</a:t>
            </a:r>
            <a:endParaRPr lang="en-IN" dirty="0"/>
          </a:p>
        </p:txBody>
      </p:sp>
    </p:spTree>
    <p:extLst>
      <p:ext uri="{BB962C8B-B14F-4D97-AF65-F5344CB8AC3E}">
        <p14:creationId xmlns:p14="http://schemas.microsoft.com/office/powerpoint/2010/main" val="3235946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3191-D999-486D-D458-FA613C474B4A}"/>
              </a:ext>
            </a:extLst>
          </p:cNvPr>
          <p:cNvSpPr>
            <a:spLocks noGrp="1"/>
          </p:cNvSpPr>
          <p:nvPr>
            <p:ph type="title"/>
          </p:nvPr>
        </p:nvSpPr>
        <p:spPr/>
        <p:txBody>
          <a:bodyPr/>
          <a:lstStyle/>
          <a:p>
            <a:r>
              <a:rPr lang="en-US" dirty="0"/>
              <a:t>Temperature Analysis</a:t>
            </a:r>
            <a:endParaRPr lang="en-IN" dirty="0"/>
          </a:p>
        </p:txBody>
      </p:sp>
      <p:pic>
        <p:nvPicPr>
          <p:cNvPr id="8" name="Content Placeholder 7">
            <a:extLst>
              <a:ext uri="{FF2B5EF4-FFF2-40B4-BE49-F238E27FC236}">
                <a16:creationId xmlns:a16="http://schemas.microsoft.com/office/drawing/2014/main" id="{7E18345F-90FD-2D80-C444-296CDEBD2C4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79541" y="2332124"/>
            <a:ext cx="4183062" cy="2437150"/>
          </a:xfrm>
          <a:prstGeom prst="rect">
            <a:avLst/>
          </a:prstGeom>
        </p:spPr>
      </p:pic>
      <p:sp>
        <p:nvSpPr>
          <p:cNvPr id="4" name="Content Placeholder 3">
            <a:extLst>
              <a:ext uri="{FF2B5EF4-FFF2-40B4-BE49-F238E27FC236}">
                <a16:creationId xmlns:a16="http://schemas.microsoft.com/office/drawing/2014/main" id="{90EB3869-FA52-1437-45C0-45B38029BAA3}"/>
              </a:ext>
            </a:extLst>
          </p:cNvPr>
          <p:cNvSpPr>
            <a:spLocks noGrp="1"/>
          </p:cNvSpPr>
          <p:nvPr>
            <p:ph sz="half" idx="2"/>
          </p:nvPr>
        </p:nvSpPr>
        <p:spPr/>
        <p:txBody>
          <a:bodyPr/>
          <a:lstStyle/>
          <a:p>
            <a:r>
              <a:rPr lang="en-US" dirty="0">
                <a:solidFill>
                  <a:srgbClr val="C00000"/>
                </a:solidFill>
              </a:rPr>
              <a:t>This Scatterplot shows how temperature affect the rentals.</a:t>
            </a:r>
          </a:p>
          <a:p>
            <a:r>
              <a:rPr lang="en-US" dirty="0">
                <a:solidFill>
                  <a:srgbClr val="C00000"/>
                </a:solidFill>
              </a:rPr>
              <a:t>Plot shows that there is weak but positive correlation between temperature and rentals.</a:t>
            </a:r>
          </a:p>
          <a:p>
            <a:r>
              <a:rPr lang="en-US" dirty="0">
                <a:solidFill>
                  <a:srgbClr val="C00000"/>
                </a:solidFill>
              </a:rPr>
              <a:t>High temperature will slightly increase the rental demands.</a:t>
            </a:r>
            <a:endParaRPr lang="en-IN" dirty="0">
              <a:solidFill>
                <a:srgbClr val="C00000"/>
              </a:solidFill>
            </a:endParaRPr>
          </a:p>
        </p:txBody>
      </p:sp>
    </p:spTree>
    <p:extLst>
      <p:ext uri="{BB962C8B-B14F-4D97-AF65-F5344CB8AC3E}">
        <p14:creationId xmlns:p14="http://schemas.microsoft.com/office/powerpoint/2010/main" val="2831870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4CA5-E9C0-1132-3FAE-0ED6E65EF456}"/>
              </a:ext>
            </a:extLst>
          </p:cNvPr>
          <p:cNvSpPr>
            <a:spLocks noGrp="1"/>
          </p:cNvSpPr>
          <p:nvPr>
            <p:ph type="title"/>
          </p:nvPr>
        </p:nvSpPr>
        <p:spPr/>
        <p:txBody>
          <a:bodyPr/>
          <a:lstStyle/>
          <a:p>
            <a:r>
              <a:rPr lang="en-US" dirty="0"/>
              <a:t>Time Analysis</a:t>
            </a:r>
            <a:endParaRPr lang="en-IN" dirty="0"/>
          </a:p>
        </p:txBody>
      </p:sp>
      <p:pic>
        <p:nvPicPr>
          <p:cNvPr id="6" name="Content Placeholder 5">
            <a:extLst>
              <a:ext uri="{FF2B5EF4-FFF2-40B4-BE49-F238E27FC236}">
                <a16:creationId xmlns:a16="http://schemas.microsoft.com/office/drawing/2014/main" id="{599B2152-7057-8681-77BA-D3348644A34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59876" y="2453218"/>
            <a:ext cx="4183062" cy="2491589"/>
          </a:xfrm>
          <a:prstGeom prst="rect">
            <a:avLst/>
          </a:prstGeom>
        </p:spPr>
      </p:pic>
      <p:sp>
        <p:nvSpPr>
          <p:cNvPr id="4" name="Content Placeholder 3">
            <a:extLst>
              <a:ext uri="{FF2B5EF4-FFF2-40B4-BE49-F238E27FC236}">
                <a16:creationId xmlns:a16="http://schemas.microsoft.com/office/drawing/2014/main" id="{6E27A111-E036-8941-3847-ABC20D5CB7A1}"/>
              </a:ext>
            </a:extLst>
          </p:cNvPr>
          <p:cNvSpPr>
            <a:spLocks noGrp="1"/>
          </p:cNvSpPr>
          <p:nvPr>
            <p:ph sz="half" idx="2"/>
          </p:nvPr>
        </p:nvSpPr>
        <p:spPr/>
        <p:txBody>
          <a:bodyPr/>
          <a:lstStyle/>
          <a:p>
            <a:r>
              <a:rPr lang="en-US" dirty="0">
                <a:solidFill>
                  <a:srgbClr val="C00000"/>
                </a:solidFill>
              </a:rPr>
              <a:t>Relation between time(</a:t>
            </a:r>
            <a:r>
              <a:rPr lang="en-US" dirty="0" err="1">
                <a:solidFill>
                  <a:srgbClr val="C00000"/>
                </a:solidFill>
              </a:rPr>
              <a:t>hr</a:t>
            </a:r>
            <a:r>
              <a:rPr lang="en-US" dirty="0">
                <a:solidFill>
                  <a:srgbClr val="C00000"/>
                </a:solidFill>
              </a:rPr>
              <a:t>) and rentals are shown using line chart.</a:t>
            </a:r>
          </a:p>
          <a:p>
            <a:r>
              <a:rPr lang="en-US" dirty="0">
                <a:solidFill>
                  <a:srgbClr val="C00000"/>
                </a:solidFill>
              </a:rPr>
              <a:t>Rental demands are at peak in morning and evening.</a:t>
            </a:r>
          </a:p>
          <a:p>
            <a:r>
              <a:rPr lang="en-US" dirty="0">
                <a:solidFill>
                  <a:srgbClr val="C00000"/>
                </a:solidFill>
              </a:rPr>
              <a:t>Bike rentals are low in early morning or late night.</a:t>
            </a:r>
          </a:p>
          <a:p>
            <a:r>
              <a:rPr lang="en-US" dirty="0">
                <a:solidFill>
                  <a:srgbClr val="C00000"/>
                </a:solidFill>
              </a:rPr>
              <a:t>Demand increases during commuting hours.</a:t>
            </a:r>
            <a:endParaRPr lang="en-IN" dirty="0">
              <a:solidFill>
                <a:srgbClr val="C00000"/>
              </a:solidFill>
            </a:endParaRPr>
          </a:p>
          <a:p>
            <a:endParaRPr lang="en-US" dirty="0"/>
          </a:p>
        </p:txBody>
      </p:sp>
    </p:spTree>
    <p:extLst>
      <p:ext uri="{BB962C8B-B14F-4D97-AF65-F5344CB8AC3E}">
        <p14:creationId xmlns:p14="http://schemas.microsoft.com/office/powerpoint/2010/main" val="360238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ADF0-6A5E-AA6C-2C0A-79742316B6D0}"/>
              </a:ext>
            </a:extLst>
          </p:cNvPr>
          <p:cNvSpPr>
            <a:spLocks noGrp="1"/>
          </p:cNvSpPr>
          <p:nvPr>
            <p:ph type="title"/>
          </p:nvPr>
        </p:nvSpPr>
        <p:spPr/>
        <p:txBody>
          <a:bodyPr/>
          <a:lstStyle/>
          <a:p>
            <a:r>
              <a:rPr lang="en-US" dirty="0"/>
              <a:t>Weather Impact on Rental</a:t>
            </a:r>
            <a:endParaRPr lang="en-IN" dirty="0"/>
          </a:p>
        </p:txBody>
      </p:sp>
      <p:pic>
        <p:nvPicPr>
          <p:cNvPr id="6" name="Content Placeholder 5">
            <a:extLst>
              <a:ext uri="{FF2B5EF4-FFF2-40B4-BE49-F238E27FC236}">
                <a16:creationId xmlns:a16="http://schemas.microsoft.com/office/drawing/2014/main" id="{3434BBB2-66DC-B8C2-626B-845BD2C3037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7334" y="2556526"/>
            <a:ext cx="4183062" cy="2371075"/>
          </a:xfrm>
          <a:prstGeom prst="rect">
            <a:avLst/>
          </a:prstGeom>
        </p:spPr>
      </p:pic>
      <p:sp>
        <p:nvSpPr>
          <p:cNvPr id="4" name="Content Placeholder 3">
            <a:extLst>
              <a:ext uri="{FF2B5EF4-FFF2-40B4-BE49-F238E27FC236}">
                <a16:creationId xmlns:a16="http://schemas.microsoft.com/office/drawing/2014/main" id="{4F93AFAA-BD0A-E2CE-2B46-1107A3AEAA42}"/>
              </a:ext>
            </a:extLst>
          </p:cNvPr>
          <p:cNvSpPr>
            <a:spLocks noGrp="1"/>
          </p:cNvSpPr>
          <p:nvPr>
            <p:ph sz="half" idx="2"/>
          </p:nvPr>
        </p:nvSpPr>
        <p:spPr/>
        <p:txBody>
          <a:bodyPr/>
          <a:lstStyle/>
          <a:p>
            <a:r>
              <a:rPr lang="en-US" dirty="0">
                <a:solidFill>
                  <a:srgbClr val="C00000"/>
                </a:solidFill>
              </a:rPr>
              <a:t>Impact of weather on rentals is shown using column chart. </a:t>
            </a:r>
          </a:p>
          <a:p>
            <a:r>
              <a:rPr lang="en-US" dirty="0">
                <a:solidFill>
                  <a:srgbClr val="C00000"/>
                </a:solidFill>
              </a:rPr>
              <a:t>It shows that there is significant impact of weather on bike </a:t>
            </a:r>
            <a:r>
              <a:rPr lang="en-US" dirty="0" err="1">
                <a:solidFill>
                  <a:srgbClr val="C00000"/>
                </a:solidFill>
              </a:rPr>
              <a:t>rantal</a:t>
            </a:r>
            <a:r>
              <a:rPr lang="en-US" dirty="0">
                <a:solidFill>
                  <a:srgbClr val="C00000"/>
                </a:solidFill>
              </a:rPr>
              <a:t> demand.</a:t>
            </a:r>
          </a:p>
          <a:p>
            <a:r>
              <a:rPr lang="en-US" dirty="0">
                <a:solidFill>
                  <a:srgbClr val="C00000"/>
                </a:solidFill>
              </a:rPr>
              <a:t>Rental demands are high when weather is clear.</a:t>
            </a:r>
          </a:p>
          <a:p>
            <a:r>
              <a:rPr lang="en-US" dirty="0">
                <a:solidFill>
                  <a:srgbClr val="C00000"/>
                </a:solidFill>
              </a:rPr>
              <a:t>Whereas rental demands are low when weather is bad(Rain, </a:t>
            </a:r>
            <a:r>
              <a:rPr lang="en-US" dirty="0" err="1">
                <a:solidFill>
                  <a:srgbClr val="C00000"/>
                </a:solidFill>
              </a:rPr>
              <a:t>snow,etc</a:t>
            </a:r>
            <a:r>
              <a:rPr lang="en-US" dirty="0">
                <a:solidFill>
                  <a:srgbClr val="C00000"/>
                </a:solidFill>
              </a:rPr>
              <a:t>.)</a:t>
            </a:r>
          </a:p>
          <a:p>
            <a:endParaRPr lang="en-IN" dirty="0"/>
          </a:p>
        </p:txBody>
      </p:sp>
    </p:spTree>
    <p:extLst>
      <p:ext uri="{BB962C8B-B14F-4D97-AF65-F5344CB8AC3E}">
        <p14:creationId xmlns:p14="http://schemas.microsoft.com/office/powerpoint/2010/main" val="701091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8E9DB-4E8D-491F-B7A9-571E0132E178}"/>
              </a:ext>
            </a:extLst>
          </p:cNvPr>
          <p:cNvSpPr>
            <a:spLocks noGrp="1"/>
          </p:cNvSpPr>
          <p:nvPr>
            <p:ph type="title"/>
          </p:nvPr>
        </p:nvSpPr>
        <p:spPr/>
        <p:txBody>
          <a:bodyPr/>
          <a:lstStyle/>
          <a:p>
            <a:r>
              <a:rPr lang="en-US" dirty="0"/>
              <a:t>Casual vs Registered Users</a:t>
            </a:r>
            <a:endParaRPr lang="en-IN" dirty="0"/>
          </a:p>
        </p:txBody>
      </p:sp>
      <p:pic>
        <p:nvPicPr>
          <p:cNvPr id="6" name="Content Placeholder 5">
            <a:extLst>
              <a:ext uri="{FF2B5EF4-FFF2-40B4-BE49-F238E27FC236}">
                <a16:creationId xmlns:a16="http://schemas.microsoft.com/office/drawing/2014/main" id="{29F71FA6-94CB-EA3D-EB76-AEA2EBFA58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99205" y="2491003"/>
            <a:ext cx="4183062" cy="2436598"/>
          </a:xfrm>
          <a:prstGeom prst="rect">
            <a:avLst/>
          </a:prstGeom>
        </p:spPr>
      </p:pic>
      <p:sp>
        <p:nvSpPr>
          <p:cNvPr id="4" name="Content Placeholder 3">
            <a:extLst>
              <a:ext uri="{FF2B5EF4-FFF2-40B4-BE49-F238E27FC236}">
                <a16:creationId xmlns:a16="http://schemas.microsoft.com/office/drawing/2014/main" id="{E1CD6E73-9C3D-4D97-3D54-ADFFBB120FA6}"/>
              </a:ext>
            </a:extLst>
          </p:cNvPr>
          <p:cNvSpPr>
            <a:spLocks noGrp="1"/>
          </p:cNvSpPr>
          <p:nvPr>
            <p:ph sz="half" idx="2"/>
          </p:nvPr>
        </p:nvSpPr>
        <p:spPr/>
        <p:txBody>
          <a:bodyPr/>
          <a:lstStyle/>
          <a:p>
            <a:r>
              <a:rPr lang="en-US" dirty="0">
                <a:solidFill>
                  <a:srgbClr val="C00000"/>
                </a:solidFill>
              </a:rPr>
              <a:t>There are both casual and registered user for bike rental.</a:t>
            </a:r>
          </a:p>
          <a:p>
            <a:r>
              <a:rPr lang="en-US" dirty="0">
                <a:solidFill>
                  <a:srgbClr val="C00000"/>
                </a:solidFill>
              </a:rPr>
              <a:t>Registered users contribute much more to rental demands than casual users.</a:t>
            </a:r>
            <a:endParaRPr lang="en-IN" dirty="0">
              <a:solidFill>
                <a:srgbClr val="C00000"/>
              </a:solidFill>
            </a:endParaRPr>
          </a:p>
        </p:txBody>
      </p:sp>
    </p:spTree>
    <p:extLst>
      <p:ext uri="{BB962C8B-B14F-4D97-AF65-F5344CB8AC3E}">
        <p14:creationId xmlns:p14="http://schemas.microsoft.com/office/powerpoint/2010/main" val="2944253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84C3-F66C-88F6-1B8E-D31E567FE6BC}"/>
              </a:ext>
            </a:extLst>
          </p:cNvPr>
          <p:cNvSpPr>
            <a:spLocks noGrp="1"/>
          </p:cNvSpPr>
          <p:nvPr>
            <p:ph type="title"/>
          </p:nvPr>
        </p:nvSpPr>
        <p:spPr/>
        <p:txBody>
          <a:bodyPr/>
          <a:lstStyle/>
          <a:p>
            <a:r>
              <a:rPr lang="en-US" dirty="0"/>
              <a:t>Day Analysis</a:t>
            </a:r>
            <a:endParaRPr lang="en-IN" dirty="0"/>
          </a:p>
        </p:txBody>
      </p:sp>
      <p:pic>
        <p:nvPicPr>
          <p:cNvPr id="6" name="Content Placeholder 5">
            <a:extLst>
              <a:ext uri="{FF2B5EF4-FFF2-40B4-BE49-F238E27FC236}">
                <a16:creationId xmlns:a16="http://schemas.microsoft.com/office/drawing/2014/main" id="{B9D35695-E737-B40A-7650-E056662CBAB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7334" y="2545003"/>
            <a:ext cx="4183062" cy="2448966"/>
          </a:xfrm>
          <a:prstGeom prst="rect">
            <a:avLst/>
          </a:prstGeom>
        </p:spPr>
      </p:pic>
      <p:sp>
        <p:nvSpPr>
          <p:cNvPr id="4" name="Content Placeholder 3">
            <a:extLst>
              <a:ext uri="{FF2B5EF4-FFF2-40B4-BE49-F238E27FC236}">
                <a16:creationId xmlns:a16="http://schemas.microsoft.com/office/drawing/2014/main" id="{B10EA036-4387-C06F-3946-FC0B45B2EFB5}"/>
              </a:ext>
            </a:extLst>
          </p:cNvPr>
          <p:cNvSpPr>
            <a:spLocks noGrp="1"/>
          </p:cNvSpPr>
          <p:nvPr>
            <p:ph sz="half" idx="2"/>
          </p:nvPr>
        </p:nvSpPr>
        <p:spPr/>
        <p:txBody>
          <a:bodyPr/>
          <a:lstStyle/>
          <a:p>
            <a:r>
              <a:rPr lang="en-US" dirty="0">
                <a:solidFill>
                  <a:srgbClr val="C00000"/>
                </a:solidFill>
              </a:rPr>
              <a:t>Rentals demands are high on weekdays in compare to weekend.</a:t>
            </a:r>
            <a:endParaRPr lang="en-IN" dirty="0">
              <a:solidFill>
                <a:srgbClr val="C00000"/>
              </a:solidFill>
            </a:endParaRPr>
          </a:p>
        </p:txBody>
      </p:sp>
    </p:spTree>
    <p:extLst>
      <p:ext uri="{BB962C8B-B14F-4D97-AF65-F5344CB8AC3E}">
        <p14:creationId xmlns:p14="http://schemas.microsoft.com/office/powerpoint/2010/main" val="2774416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BC88-A6BA-D8EB-B4B1-6C494FE559E8}"/>
              </a:ext>
            </a:extLst>
          </p:cNvPr>
          <p:cNvSpPr>
            <a:spLocks noGrp="1"/>
          </p:cNvSpPr>
          <p:nvPr>
            <p:ph type="title"/>
          </p:nvPr>
        </p:nvSpPr>
        <p:spPr>
          <a:xfrm>
            <a:off x="638005" y="152092"/>
            <a:ext cx="8596668" cy="1320800"/>
          </a:xfrm>
        </p:spPr>
        <p:txBody>
          <a:bodyPr/>
          <a:lstStyle/>
          <a:p>
            <a:pPr algn="ctr"/>
            <a:r>
              <a:rPr lang="en-US" dirty="0"/>
              <a:t>Dashboard</a:t>
            </a:r>
            <a:endParaRPr lang="en-IN" dirty="0"/>
          </a:p>
        </p:txBody>
      </p:sp>
      <p:pic>
        <p:nvPicPr>
          <p:cNvPr id="6" name="Content Placeholder 5">
            <a:extLst>
              <a:ext uri="{FF2B5EF4-FFF2-40B4-BE49-F238E27FC236}">
                <a16:creationId xmlns:a16="http://schemas.microsoft.com/office/drawing/2014/main" id="{11BD75CA-F41D-262C-1123-1FAFC2C5E55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74210" y="1504335"/>
            <a:ext cx="4815758" cy="4109884"/>
          </a:xfrm>
          <a:prstGeom prst="rect">
            <a:avLst/>
          </a:prstGeom>
        </p:spPr>
      </p:pic>
      <p:sp>
        <p:nvSpPr>
          <p:cNvPr id="4" name="Content Placeholder 3">
            <a:extLst>
              <a:ext uri="{FF2B5EF4-FFF2-40B4-BE49-F238E27FC236}">
                <a16:creationId xmlns:a16="http://schemas.microsoft.com/office/drawing/2014/main" id="{593937AA-20B7-5C53-EA42-0988E5CF32F4}"/>
              </a:ext>
            </a:extLst>
          </p:cNvPr>
          <p:cNvSpPr>
            <a:spLocks noGrp="1"/>
          </p:cNvSpPr>
          <p:nvPr>
            <p:ph sz="half" idx="2"/>
          </p:nvPr>
        </p:nvSpPr>
        <p:spPr>
          <a:xfrm>
            <a:off x="5473429" y="1681315"/>
            <a:ext cx="4184034" cy="3932904"/>
          </a:xfrm>
        </p:spPr>
        <p:txBody>
          <a:bodyPr>
            <a:normAutofit fontScale="92500" lnSpcReduction="10000"/>
          </a:bodyPr>
          <a:lstStyle/>
          <a:p>
            <a:pPr marL="171450" indent="-171450">
              <a:buFont typeface="Wingdings" panose="05000000000000000000" pitchFamily="2" charset="2"/>
              <a:buChar char="Ø"/>
            </a:pPr>
            <a:r>
              <a:rPr lang="en-IN" dirty="0">
                <a:solidFill>
                  <a:schemeClr val="accent4">
                    <a:lumMod val="75000"/>
                  </a:schemeClr>
                </a:solidFill>
              </a:rPr>
              <a:t>Rental demands increases with high temperature.</a:t>
            </a:r>
          </a:p>
          <a:p>
            <a:pPr marL="171450" indent="-171450">
              <a:buFont typeface="Wingdings" panose="05000000000000000000" pitchFamily="2" charset="2"/>
              <a:buChar char="Ø"/>
            </a:pPr>
            <a:r>
              <a:rPr lang="en-IN" dirty="0">
                <a:solidFill>
                  <a:schemeClr val="accent4">
                    <a:lumMod val="75000"/>
                  </a:schemeClr>
                </a:solidFill>
              </a:rPr>
              <a:t>Rental demands are at peak in morning and evening.</a:t>
            </a:r>
          </a:p>
          <a:p>
            <a:pPr marL="171450" indent="-171450">
              <a:buFont typeface="Wingdings" panose="05000000000000000000" pitchFamily="2" charset="2"/>
              <a:buChar char="Ø"/>
            </a:pPr>
            <a:r>
              <a:rPr lang="en-IN" dirty="0">
                <a:solidFill>
                  <a:schemeClr val="accent4">
                    <a:lumMod val="75000"/>
                  </a:schemeClr>
                </a:solidFill>
              </a:rPr>
              <a:t>Registered users contribute more to rental than casual users</a:t>
            </a:r>
          </a:p>
          <a:p>
            <a:pPr marL="171450" indent="-171450">
              <a:buFont typeface="Wingdings" panose="05000000000000000000" pitchFamily="2" charset="2"/>
              <a:buChar char="Ø"/>
            </a:pPr>
            <a:r>
              <a:rPr lang="en-IN" dirty="0">
                <a:solidFill>
                  <a:schemeClr val="accent4">
                    <a:lumMod val="75000"/>
                  </a:schemeClr>
                </a:solidFill>
              </a:rPr>
              <a:t>Rentals are more when weather is clear.</a:t>
            </a:r>
          </a:p>
          <a:p>
            <a:pPr marL="171450" indent="-171450">
              <a:buFont typeface="Wingdings" panose="05000000000000000000" pitchFamily="2" charset="2"/>
              <a:buChar char="Ø"/>
            </a:pPr>
            <a:r>
              <a:rPr lang="en-IN" dirty="0">
                <a:solidFill>
                  <a:schemeClr val="accent4">
                    <a:lumMod val="75000"/>
                  </a:schemeClr>
                </a:solidFill>
              </a:rPr>
              <a:t>Rental are low during bad weather</a:t>
            </a:r>
          </a:p>
          <a:p>
            <a:pPr marL="171450" indent="-171450">
              <a:buFont typeface="Wingdings" panose="05000000000000000000" pitchFamily="2" charset="2"/>
              <a:buChar char="Ø"/>
            </a:pPr>
            <a:r>
              <a:rPr lang="en-IN" dirty="0">
                <a:solidFill>
                  <a:schemeClr val="accent4">
                    <a:lumMod val="75000"/>
                  </a:schemeClr>
                </a:solidFill>
              </a:rPr>
              <a:t>Rental demands are higher on weekdays in compare to weekend.</a:t>
            </a:r>
          </a:p>
          <a:p>
            <a:pPr marL="171450" indent="-171450">
              <a:buFont typeface="Wingdings" panose="05000000000000000000" pitchFamily="2" charset="2"/>
              <a:buChar char="Ø"/>
            </a:pPr>
            <a:r>
              <a:rPr lang="en-IN" dirty="0">
                <a:solidFill>
                  <a:schemeClr val="accent4">
                    <a:lumMod val="75000"/>
                  </a:schemeClr>
                </a:solidFill>
              </a:rPr>
              <a:t>Weak positive correlation between temperature and rentals.</a:t>
            </a:r>
          </a:p>
          <a:p>
            <a:endParaRPr lang="en-IN" dirty="0"/>
          </a:p>
        </p:txBody>
      </p:sp>
    </p:spTree>
    <p:extLst>
      <p:ext uri="{BB962C8B-B14F-4D97-AF65-F5344CB8AC3E}">
        <p14:creationId xmlns:p14="http://schemas.microsoft.com/office/powerpoint/2010/main" val="1409807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114C7F-A692-725B-D259-4C720E6B44D0}"/>
              </a:ext>
            </a:extLst>
          </p:cNvPr>
          <p:cNvSpPr txBox="1"/>
          <p:nvPr/>
        </p:nvSpPr>
        <p:spPr>
          <a:xfrm>
            <a:off x="1818968" y="2321004"/>
            <a:ext cx="6754761" cy="1107996"/>
          </a:xfrm>
          <a:prstGeom prst="rect">
            <a:avLst/>
          </a:prstGeom>
          <a:noFill/>
        </p:spPr>
        <p:txBody>
          <a:bodyPr wrap="square" rtlCol="0">
            <a:spAutoFit/>
          </a:bodyPr>
          <a:lstStyle/>
          <a:p>
            <a:pPr algn="ctr"/>
            <a:r>
              <a:rPr lang="en-US" sz="6600" b="1" dirty="0">
                <a:solidFill>
                  <a:srgbClr val="C00000"/>
                </a:solidFill>
              </a:rPr>
              <a:t>Thank You !</a:t>
            </a:r>
            <a:endParaRPr lang="en-IN" sz="6600" b="1" dirty="0">
              <a:solidFill>
                <a:srgbClr val="C00000"/>
              </a:solidFill>
            </a:endParaRPr>
          </a:p>
        </p:txBody>
      </p:sp>
    </p:spTree>
    <p:extLst>
      <p:ext uri="{BB962C8B-B14F-4D97-AF65-F5344CB8AC3E}">
        <p14:creationId xmlns:p14="http://schemas.microsoft.com/office/powerpoint/2010/main" val="33761136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214</TotalTime>
  <Words>321</Words>
  <Application>Microsoft Office PowerPoint</Application>
  <PresentationFormat>Widescreen</PresentationFormat>
  <Paragraphs>34</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Trebuchet MS</vt:lpstr>
      <vt:lpstr>Wingdings</vt:lpstr>
      <vt:lpstr>Wingdings 3</vt:lpstr>
      <vt:lpstr>Facet</vt:lpstr>
      <vt:lpstr>Bike Rental Demand Analysis </vt:lpstr>
      <vt:lpstr>Project Overview</vt:lpstr>
      <vt:lpstr>Temperature Analysis</vt:lpstr>
      <vt:lpstr>Time Analysis</vt:lpstr>
      <vt:lpstr>Weather Impact on Rental</vt:lpstr>
      <vt:lpstr>Casual vs Registered Users</vt:lpstr>
      <vt:lpstr>Day Analysis</vt:lpstr>
      <vt:lpstr>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 Jain</dc:creator>
  <cp:lastModifiedBy>Isha Jain</cp:lastModifiedBy>
  <cp:revision>1</cp:revision>
  <dcterms:created xsi:type="dcterms:W3CDTF">2026-05-25T07:55:50Z</dcterms:created>
  <dcterms:modified xsi:type="dcterms:W3CDTF">2026-05-25T11:30:39Z</dcterms:modified>
</cp:coreProperties>
</file>